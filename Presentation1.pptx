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7"/>
  </p:notesMasterIdLst>
  <p:sldIdLst>
    <p:sldId id="256" r:id="rId2"/>
    <p:sldId id="257" r:id="rId3"/>
    <p:sldId id="258" r:id="rId4"/>
    <p:sldId id="259" r:id="rId5"/>
    <p:sldId id="260" r:id="rId6"/>
    <p:sldId id="261" r:id="rId7"/>
    <p:sldId id="264" r:id="rId8"/>
    <p:sldId id="265" r:id="rId9"/>
    <p:sldId id="262" r:id="rId10"/>
    <p:sldId id="266" r:id="rId11"/>
    <p:sldId id="267" r:id="rId12"/>
    <p:sldId id="263" r:id="rId13"/>
    <p:sldId id="269"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7852" autoAdjust="0"/>
  </p:normalViewPr>
  <p:slideViewPr>
    <p:cSldViewPr snapToGrid="0">
      <p:cViewPr varScale="1">
        <p:scale>
          <a:sx n="98" d="100"/>
          <a:sy n="98" d="100"/>
        </p:scale>
        <p:origin x="10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75AAD-B3AE-4368-9325-88231DD34489}"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8633FC-F43C-4392-B5C5-1E7FBB68203E}" type="slidenum">
              <a:rPr lang="en-US" smtClean="0"/>
              <a:t>‹#›</a:t>
            </a:fld>
            <a:endParaRPr lang="en-US"/>
          </a:p>
        </p:txBody>
      </p:sp>
    </p:spTree>
    <p:extLst>
      <p:ext uri="{BB962C8B-B14F-4D97-AF65-F5344CB8AC3E}">
        <p14:creationId xmlns:p14="http://schemas.microsoft.com/office/powerpoint/2010/main" val="2806237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that the US is spending almost 20% of its GDP for healthcare. Hospital prices are paid higher. </a:t>
            </a:r>
          </a:p>
        </p:txBody>
      </p:sp>
      <p:sp>
        <p:nvSpPr>
          <p:cNvPr id="4" name="Slide Number Placeholder 3"/>
          <p:cNvSpPr>
            <a:spLocks noGrp="1"/>
          </p:cNvSpPr>
          <p:nvPr>
            <p:ph type="sldNum" sz="quarter" idx="5"/>
          </p:nvPr>
        </p:nvSpPr>
        <p:spPr/>
        <p:txBody>
          <a:bodyPr/>
          <a:lstStyle/>
          <a:p>
            <a:fld id="{DC8633FC-F43C-4392-B5C5-1E7FBB68203E}" type="slidenum">
              <a:rPr lang="en-US" smtClean="0"/>
              <a:t>2</a:t>
            </a:fld>
            <a:endParaRPr lang="en-US"/>
          </a:p>
        </p:txBody>
      </p:sp>
    </p:spTree>
    <p:extLst>
      <p:ext uri="{BB962C8B-B14F-4D97-AF65-F5344CB8AC3E}">
        <p14:creationId xmlns:p14="http://schemas.microsoft.com/office/powerpoint/2010/main" val="41656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6082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4867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444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0871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6949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4363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788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8257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1747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32689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02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76015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iencedirect.com/science/article/pii/S0022510X2400306X" TargetMode="External"/><Relationship Id="rId2" Type="http://schemas.openxmlformats.org/officeDocument/2006/relationships/hyperlink" Target="https://doi.org/10.1016/j.jns.2024.123171" TargetMode="External"/><Relationship Id="rId1" Type="http://schemas.openxmlformats.org/officeDocument/2006/relationships/slideLayout" Target="../slideLayouts/slideLayout2.xml"/><Relationship Id="rId5" Type="http://schemas.openxmlformats.org/officeDocument/2006/relationships/hyperlink" Target="https://www.jstor.org/stable/48736361" TargetMode="External"/><Relationship Id="rId4" Type="http://schemas.openxmlformats.org/officeDocument/2006/relationships/hyperlink" Target="https://research.ebsco.com/c/lua7fp/viewer/pdf/sbnyfbvwf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ed pencils inside a pencil holder which is on top of a wood table">
            <a:extLst>
              <a:ext uri="{FF2B5EF4-FFF2-40B4-BE49-F238E27FC236}">
                <a16:creationId xmlns:a16="http://schemas.microsoft.com/office/drawing/2014/main" id="{C3715D79-2E6D-EAE7-44F9-0D60ED9898A9}"/>
              </a:ext>
            </a:extLst>
          </p:cNvPr>
          <p:cNvPicPr>
            <a:picLocks noChangeAspect="1"/>
          </p:cNvPicPr>
          <p:nvPr/>
        </p:nvPicPr>
        <p:blipFill>
          <a:blip r:embed="rId2"/>
          <a:srcRect t="15730"/>
          <a:stretch/>
        </p:blipFill>
        <p:spPr>
          <a:xfrm>
            <a:off x="0" y="0"/>
            <a:ext cx="12192000" cy="6857990"/>
          </a:xfrm>
          <a:prstGeom prst="rect">
            <a:avLst/>
          </a:prstGeom>
        </p:spPr>
      </p:pic>
      <p:sp useBgFill="1">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4436" y="1066800"/>
            <a:ext cx="4389120"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05DF3C-E96D-DBFA-5E81-87BB057C6FB4}"/>
              </a:ext>
            </a:extLst>
          </p:cNvPr>
          <p:cNvSpPr>
            <a:spLocks noGrp="1"/>
          </p:cNvSpPr>
          <p:nvPr>
            <p:ph type="ctrTitle"/>
          </p:nvPr>
        </p:nvSpPr>
        <p:spPr>
          <a:xfrm>
            <a:off x="7730487" y="1562101"/>
            <a:ext cx="3551402" cy="2738530"/>
          </a:xfrm>
        </p:spPr>
        <p:txBody>
          <a:bodyPr anchor="t">
            <a:normAutofit/>
          </a:bodyPr>
          <a:lstStyle/>
          <a:p>
            <a:r>
              <a:rPr lang="en-US" sz="4800" dirty="0"/>
              <a:t>Research Industry: Healthcare</a:t>
            </a:r>
          </a:p>
        </p:txBody>
      </p:sp>
      <p:sp>
        <p:nvSpPr>
          <p:cNvPr id="3" name="Subtitle 2">
            <a:extLst>
              <a:ext uri="{FF2B5EF4-FFF2-40B4-BE49-F238E27FC236}">
                <a16:creationId xmlns:a16="http://schemas.microsoft.com/office/drawing/2014/main" id="{AE5C1278-8994-0CC3-4802-0DDF7E6094FC}"/>
              </a:ext>
            </a:extLst>
          </p:cNvPr>
          <p:cNvSpPr>
            <a:spLocks noGrp="1"/>
          </p:cNvSpPr>
          <p:nvPr>
            <p:ph type="subTitle" idx="1"/>
          </p:nvPr>
        </p:nvSpPr>
        <p:spPr>
          <a:xfrm>
            <a:off x="7730487" y="4358566"/>
            <a:ext cx="3579790" cy="875824"/>
          </a:xfrm>
        </p:spPr>
        <p:txBody>
          <a:bodyPr>
            <a:normAutofit/>
          </a:bodyPr>
          <a:lstStyle/>
          <a:p>
            <a:r>
              <a:rPr lang="en-US" dirty="0"/>
              <a:t>By</a:t>
            </a:r>
            <a:r>
              <a:rPr lang="en-US"/>
              <a:t>: Patrick Ha </a:t>
            </a:r>
            <a:endParaRPr lang="en-US" dirty="0"/>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24436" y="5780876"/>
            <a:ext cx="4389120"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803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7756D-5855-AD42-D1A0-C4C74477DF3E}"/>
              </a:ext>
            </a:extLst>
          </p:cNvPr>
          <p:cNvSpPr>
            <a:spLocks noGrp="1"/>
          </p:cNvSpPr>
          <p:nvPr>
            <p:ph type="title"/>
          </p:nvPr>
        </p:nvSpPr>
        <p:spPr/>
        <p:txBody>
          <a:bodyPr/>
          <a:lstStyle/>
          <a:p>
            <a:r>
              <a:rPr lang="en-US" dirty="0"/>
              <a:t>About</a:t>
            </a:r>
          </a:p>
        </p:txBody>
      </p:sp>
      <p:sp>
        <p:nvSpPr>
          <p:cNvPr id="3" name="Content Placeholder 2">
            <a:extLst>
              <a:ext uri="{FF2B5EF4-FFF2-40B4-BE49-F238E27FC236}">
                <a16:creationId xmlns:a16="http://schemas.microsoft.com/office/drawing/2014/main" id="{B63244F4-6FDF-E04B-8B4F-F6074932C8B8}"/>
              </a:ext>
            </a:extLst>
          </p:cNvPr>
          <p:cNvSpPr>
            <a:spLocks noGrp="1"/>
          </p:cNvSpPr>
          <p:nvPr>
            <p:ph idx="1"/>
          </p:nvPr>
        </p:nvSpPr>
        <p:spPr/>
        <p:txBody>
          <a:bodyPr>
            <a:normAutofit/>
          </a:bodyPr>
          <a:lstStyle/>
          <a:p>
            <a:r>
              <a:rPr lang="en-US" sz="2800" dirty="0">
                <a:effectLst/>
                <a:latin typeface="Times New Roman" panose="02020603050405020304" pitchFamily="18" charset="0"/>
                <a:ea typeface="Calibri" panose="020F0502020204030204" pitchFamily="34" charset="0"/>
              </a:rPr>
              <a:t>Healthcare has one crucial business process which is financial. In 2020, the U.S. spent 4.1 trillion dollars 19.7% of gross domestic product on Healthcare (Laffer et al., pg. 5). </a:t>
            </a:r>
          </a:p>
          <a:p>
            <a:r>
              <a:rPr lang="en-US" sz="2800" dirty="0">
                <a:effectLst/>
                <a:latin typeface="Times New Roman" panose="02020603050405020304" pitchFamily="18" charset="0"/>
                <a:ea typeface="Calibri" panose="020F0502020204030204" pitchFamily="34" charset="0"/>
              </a:rPr>
              <a:t>A study found that the average U.S. hospital prices are 247% of the rate Medicare pays. </a:t>
            </a:r>
            <a:endParaRPr lang="en-US" sz="3200" dirty="0"/>
          </a:p>
        </p:txBody>
      </p:sp>
    </p:spTree>
    <p:extLst>
      <p:ext uri="{BB962C8B-B14F-4D97-AF65-F5344CB8AC3E}">
        <p14:creationId xmlns:p14="http://schemas.microsoft.com/office/powerpoint/2010/main" val="2923943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B622-46C4-81FD-7580-A25165006437}"/>
              </a:ext>
            </a:extLst>
          </p:cNvPr>
          <p:cNvSpPr>
            <a:spLocks noGrp="1"/>
          </p:cNvSpPr>
          <p:nvPr>
            <p:ph type="title"/>
          </p:nvPr>
        </p:nvSpPr>
        <p:spPr/>
        <p:txBody>
          <a:bodyPr>
            <a:noAutofit/>
          </a:bodyPr>
          <a:lstStyle/>
          <a:p>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Focus Question 1) How to reduce time for contacting doctors between doctors and patient by implementing mobile software to reduce wait time? </a:t>
            </a:r>
            <a:br>
              <a:rPr lang="en-US"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4800" dirty="0"/>
          </a:p>
        </p:txBody>
      </p:sp>
      <p:sp>
        <p:nvSpPr>
          <p:cNvPr id="3" name="Content Placeholder 2">
            <a:extLst>
              <a:ext uri="{FF2B5EF4-FFF2-40B4-BE49-F238E27FC236}">
                <a16:creationId xmlns:a16="http://schemas.microsoft.com/office/drawing/2014/main" id="{A8A38315-AFED-FB49-9901-AFF2B3D9FE57}"/>
              </a:ext>
            </a:extLst>
          </p:cNvPr>
          <p:cNvSpPr>
            <a:spLocks noGrp="1"/>
          </p:cNvSpPr>
          <p:nvPr>
            <p:ph idx="1"/>
          </p:nvPr>
        </p:nvSpPr>
        <p:spPr/>
        <p:txBody>
          <a:bodyPr>
            <a:normAutofit/>
          </a:bodyPr>
          <a:lstStyle/>
          <a:p>
            <a:r>
              <a:rPr lang="en-US" sz="3200" dirty="0">
                <a:solidFill>
                  <a:srgbClr val="0D0D0D"/>
                </a:solidFill>
                <a:effectLst/>
                <a:latin typeface="Times New Roman" panose="02020603050405020304" pitchFamily="18" charset="0"/>
                <a:ea typeface="Calibri" panose="020F0502020204030204" pitchFamily="34" charset="0"/>
              </a:rPr>
              <a:t>Implementing a mobile app to facilitate a faster and safer way to contact healthcare personnel, thereby looking into which methods would be best on how to get in contact with a healthcare personnel. </a:t>
            </a:r>
            <a:endParaRPr lang="en-US" sz="3600" dirty="0"/>
          </a:p>
        </p:txBody>
      </p:sp>
    </p:spTree>
    <p:extLst>
      <p:ext uri="{BB962C8B-B14F-4D97-AF65-F5344CB8AC3E}">
        <p14:creationId xmlns:p14="http://schemas.microsoft.com/office/powerpoint/2010/main" val="206269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134B-9F51-B378-A45E-993C3214987E}"/>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5CE0C62E-55A4-E167-B41E-81FABB4652AE}"/>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DF0352E-266C-ABA3-410C-CC37DCDE0E38}"/>
              </a:ext>
            </a:extLst>
          </p:cNvPr>
          <p:cNvPicPr>
            <a:picLocks noChangeAspect="1"/>
          </p:cNvPicPr>
          <p:nvPr/>
        </p:nvPicPr>
        <p:blipFill>
          <a:blip r:embed="rId2"/>
          <a:stretch>
            <a:fillRect/>
          </a:stretch>
        </p:blipFill>
        <p:spPr>
          <a:xfrm>
            <a:off x="359085" y="982472"/>
            <a:ext cx="11473829" cy="5217160"/>
          </a:xfrm>
          <a:prstGeom prst="rect">
            <a:avLst/>
          </a:prstGeom>
        </p:spPr>
      </p:pic>
    </p:spTree>
    <p:extLst>
      <p:ext uri="{BB962C8B-B14F-4D97-AF65-F5344CB8AC3E}">
        <p14:creationId xmlns:p14="http://schemas.microsoft.com/office/powerpoint/2010/main" val="1360637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378F-1A46-0898-71E2-39CDFBAC8015}"/>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2CA9E3CD-C0CB-7FED-F877-D68573B8DC5A}"/>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BB2B5562-A196-CFDB-9D1D-C72AD5D8DAA4}"/>
              </a:ext>
            </a:extLst>
          </p:cNvPr>
          <p:cNvPicPr>
            <a:picLocks noChangeAspect="1"/>
          </p:cNvPicPr>
          <p:nvPr/>
        </p:nvPicPr>
        <p:blipFill>
          <a:blip r:embed="rId2"/>
          <a:stretch>
            <a:fillRect/>
          </a:stretch>
        </p:blipFill>
        <p:spPr>
          <a:xfrm>
            <a:off x="395805" y="1035685"/>
            <a:ext cx="11400390" cy="5163947"/>
          </a:xfrm>
          <a:prstGeom prst="rect">
            <a:avLst/>
          </a:prstGeom>
        </p:spPr>
      </p:pic>
    </p:spTree>
    <p:extLst>
      <p:ext uri="{BB962C8B-B14F-4D97-AF65-F5344CB8AC3E}">
        <p14:creationId xmlns:p14="http://schemas.microsoft.com/office/powerpoint/2010/main" val="134208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9CBA-D5DC-C88B-AB07-2E2615F3F878}"/>
              </a:ext>
            </a:extLst>
          </p:cNvPr>
          <p:cNvSpPr>
            <a:spLocks noGrp="1"/>
          </p:cNvSpPr>
          <p:nvPr>
            <p:ph type="title"/>
          </p:nvPr>
        </p:nvSpPr>
        <p:spPr/>
        <p:txBody>
          <a:bodyPr>
            <a:noAutofit/>
          </a:bodyPr>
          <a:lstStyle/>
          <a:p>
            <a:r>
              <a:rPr lang="en-US" sz="2400" b="1" u="sng" dirty="0">
                <a:effectLst/>
                <a:latin typeface="Times New Roman" panose="02020603050405020304" pitchFamily="18" charset="0"/>
                <a:ea typeface="Calibri" panose="020F0502020204030204" pitchFamily="34" charset="0"/>
              </a:rPr>
              <a:t>Focus Question 2:</a:t>
            </a:r>
            <a:r>
              <a:rPr lang="en-US" sz="2400" b="1" dirty="0">
                <a:effectLst/>
                <a:latin typeface="Times New Roman" panose="02020603050405020304" pitchFamily="18" charset="0"/>
                <a:ea typeface="Calibri" panose="020F0502020204030204" pitchFamily="34" charset="0"/>
              </a:rPr>
              <a:t> How do we lower the prescription drugs prices by making a deal between insurance and markets for patients to pay lower drug prices?</a:t>
            </a:r>
            <a:r>
              <a:rPr lang="en-US" sz="2400" dirty="0">
                <a:effectLst/>
                <a:latin typeface="Times New Roman" panose="02020603050405020304" pitchFamily="18" charset="0"/>
                <a:ea typeface="Calibri" panose="020F0502020204030204" pitchFamily="34" charset="0"/>
              </a:rPr>
              <a:t> </a:t>
            </a:r>
            <a:endParaRPr lang="en-US" sz="6000" dirty="0"/>
          </a:p>
        </p:txBody>
      </p:sp>
      <p:sp>
        <p:nvSpPr>
          <p:cNvPr id="3" name="Content Placeholder 2">
            <a:extLst>
              <a:ext uri="{FF2B5EF4-FFF2-40B4-BE49-F238E27FC236}">
                <a16:creationId xmlns:a16="http://schemas.microsoft.com/office/drawing/2014/main" id="{15D7770C-6FC8-D2F9-9A36-A612CFECA5E0}"/>
              </a:ext>
            </a:extLst>
          </p:cNvPr>
          <p:cNvSpPr>
            <a:spLocks noGrp="1"/>
          </p:cNvSpPr>
          <p:nvPr>
            <p:ph idx="1"/>
          </p:nvPr>
        </p:nvSpPr>
        <p:spPr/>
        <p:txBody>
          <a:bodyPr>
            <a:normAutofit/>
          </a:bodyPr>
          <a:lstStyle/>
          <a:p>
            <a:r>
              <a:rPr lang="en-US" sz="3600" dirty="0">
                <a:solidFill>
                  <a:srgbClr val="0D0D0D"/>
                </a:solidFill>
                <a:effectLst/>
                <a:latin typeface="Times New Roman" panose="02020603050405020304" pitchFamily="18" charset="0"/>
                <a:ea typeface="Calibri" panose="020F0502020204030204" pitchFamily="34" charset="0"/>
              </a:rPr>
              <a:t>Implementing a computer software to easier keep track of prescription drugs' prices including input fields for users to add the market price of the drug, the price it cost to make the drug, and a notes field. </a:t>
            </a:r>
            <a:endParaRPr lang="en-US" sz="6600" dirty="0"/>
          </a:p>
        </p:txBody>
      </p:sp>
    </p:spTree>
    <p:extLst>
      <p:ext uri="{BB962C8B-B14F-4D97-AF65-F5344CB8AC3E}">
        <p14:creationId xmlns:p14="http://schemas.microsoft.com/office/powerpoint/2010/main" val="188604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48AF-0D3A-1500-D16F-98CDFEF31A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D40757-0FDC-E707-66A2-F94917E695F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7A610C8-DA9E-14E3-58C7-18E74EA9B50D}"/>
              </a:ext>
            </a:extLst>
          </p:cNvPr>
          <p:cNvPicPr>
            <a:picLocks noChangeAspect="1"/>
          </p:cNvPicPr>
          <p:nvPr/>
        </p:nvPicPr>
        <p:blipFill>
          <a:blip r:embed="rId2"/>
          <a:stretch>
            <a:fillRect/>
          </a:stretch>
        </p:blipFill>
        <p:spPr>
          <a:xfrm>
            <a:off x="251883" y="836390"/>
            <a:ext cx="11687996" cy="5363242"/>
          </a:xfrm>
          <a:prstGeom prst="rect">
            <a:avLst/>
          </a:prstGeom>
        </p:spPr>
      </p:pic>
    </p:spTree>
    <p:extLst>
      <p:ext uri="{BB962C8B-B14F-4D97-AF65-F5344CB8AC3E}">
        <p14:creationId xmlns:p14="http://schemas.microsoft.com/office/powerpoint/2010/main" val="2288518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CE9EC-89AC-2B0D-C234-58F42AC778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CBA028-B067-C7D3-D61A-4FFDD6EF382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79FE8C3-24B5-1A14-0080-81DE9D8D0BB4}"/>
              </a:ext>
            </a:extLst>
          </p:cNvPr>
          <p:cNvPicPr>
            <a:picLocks noChangeAspect="1"/>
          </p:cNvPicPr>
          <p:nvPr/>
        </p:nvPicPr>
        <p:blipFill>
          <a:blip r:embed="rId2"/>
          <a:stretch>
            <a:fillRect/>
          </a:stretch>
        </p:blipFill>
        <p:spPr>
          <a:xfrm>
            <a:off x="423861" y="834707"/>
            <a:ext cx="11277601" cy="5507469"/>
          </a:xfrm>
          <a:prstGeom prst="rect">
            <a:avLst/>
          </a:prstGeom>
        </p:spPr>
      </p:pic>
    </p:spTree>
    <p:extLst>
      <p:ext uri="{BB962C8B-B14F-4D97-AF65-F5344CB8AC3E}">
        <p14:creationId xmlns:p14="http://schemas.microsoft.com/office/powerpoint/2010/main" val="660225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4C2B2-EE53-C84A-69EA-7371A20F1E02}"/>
              </a:ext>
            </a:extLst>
          </p:cNvPr>
          <p:cNvSpPr>
            <a:spLocks noGrp="1"/>
          </p:cNvSpPr>
          <p:nvPr>
            <p:ph type="title"/>
          </p:nvPr>
        </p:nvSpPr>
        <p:spPr/>
        <p:txBody>
          <a:bodyPr>
            <a:normAutofit fontScale="90000"/>
          </a:bodyPr>
          <a:lstStyle/>
          <a:p>
            <a:r>
              <a:rPr lang="en-US" sz="2800" b="1" dirty="0">
                <a:effectLst/>
                <a:latin typeface="Times New Roman" panose="02020603050405020304" pitchFamily="18" charset="0"/>
                <a:ea typeface="Calibri" panose="020F0502020204030204" pitchFamily="34" charset="0"/>
              </a:rPr>
              <a:t>Focus Question 3) How to reduce overall health expenditures between health sectors by using software to reduce health costs for the country? </a:t>
            </a:r>
            <a:endParaRPr lang="en-US" sz="5400" dirty="0"/>
          </a:p>
        </p:txBody>
      </p:sp>
      <p:sp>
        <p:nvSpPr>
          <p:cNvPr id="3" name="Content Placeholder 2">
            <a:extLst>
              <a:ext uri="{FF2B5EF4-FFF2-40B4-BE49-F238E27FC236}">
                <a16:creationId xmlns:a16="http://schemas.microsoft.com/office/drawing/2014/main" id="{77F5A90A-9BBD-A1EB-F8DB-5DCDE3CC8DAF}"/>
              </a:ext>
            </a:extLst>
          </p:cNvPr>
          <p:cNvSpPr>
            <a:spLocks noGrp="1"/>
          </p:cNvSpPr>
          <p:nvPr>
            <p:ph idx="1"/>
          </p:nvPr>
        </p:nvSpPr>
        <p:spPr/>
        <p:txBody>
          <a:bodyPr>
            <a:normAutofit/>
          </a:bodyPr>
          <a:lstStyle/>
          <a:p>
            <a:r>
              <a:rPr lang="en-US" sz="3600" dirty="0">
                <a:solidFill>
                  <a:srgbClr val="0D0D0D"/>
                </a:solidFill>
                <a:effectLst/>
                <a:latin typeface="Times New Roman" panose="02020603050405020304" pitchFamily="18" charset="0"/>
                <a:ea typeface="Calibri" panose="020F0502020204030204" pitchFamily="34" charset="0"/>
              </a:rPr>
              <a:t>Developing an AI data gathering software to easily search for health sectors that are contributing to the healthcare costs and convenient way to analyze the data by including automated queries and automated data gathering. </a:t>
            </a:r>
            <a:endParaRPr lang="en-US" sz="4000" dirty="0"/>
          </a:p>
        </p:txBody>
      </p:sp>
    </p:spTree>
    <p:extLst>
      <p:ext uri="{BB962C8B-B14F-4D97-AF65-F5344CB8AC3E}">
        <p14:creationId xmlns:p14="http://schemas.microsoft.com/office/powerpoint/2010/main" val="342568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115C-64B2-C03F-D1DD-6B45435460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3E5ABA-AD03-E166-4E8C-B8B70E71849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E31BA95-7DBD-1F2D-657A-C6CF7B213621}"/>
              </a:ext>
            </a:extLst>
          </p:cNvPr>
          <p:cNvPicPr>
            <a:picLocks noChangeAspect="1"/>
          </p:cNvPicPr>
          <p:nvPr/>
        </p:nvPicPr>
        <p:blipFill>
          <a:blip r:embed="rId2"/>
          <a:stretch>
            <a:fillRect/>
          </a:stretch>
        </p:blipFill>
        <p:spPr>
          <a:xfrm>
            <a:off x="483366" y="844550"/>
            <a:ext cx="11225268" cy="5168900"/>
          </a:xfrm>
          <a:prstGeom prst="rect">
            <a:avLst/>
          </a:prstGeom>
        </p:spPr>
      </p:pic>
    </p:spTree>
    <p:extLst>
      <p:ext uri="{BB962C8B-B14F-4D97-AF65-F5344CB8AC3E}">
        <p14:creationId xmlns:p14="http://schemas.microsoft.com/office/powerpoint/2010/main" val="818390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1EB64-85EB-CD9E-28C3-0236F49EE0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6317CD-9B6B-EF47-00FE-73A89E9A526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3153FCE-AB93-E8F3-E532-573A5C1856AA}"/>
              </a:ext>
            </a:extLst>
          </p:cNvPr>
          <p:cNvPicPr>
            <a:picLocks noChangeAspect="1"/>
          </p:cNvPicPr>
          <p:nvPr/>
        </p:nvPicPr>
        <p:blipFill>
          <a:blip r:embed="rId2"/>
          <a:stretch>
            <a:fillRect/>
          </a:stretch>
        </p:blipFill>
        <p:spPr>
          <a:xfrm>
            <a:off x="523203" y="946150"/>
            <a:ext cx="11007805" cy="5439220"/>
          </a:xfrm>
          <a:prstGeom prst="rect">
            <a:avLst/>
          </a:prstGeom>
        </p:spPr>
      </p:pic>
    </p:spTree>
    <p:extLst>
      <p:ext uri="{BB962C8B-B14F-4D97-AF65-F5344CB8AC3E}">
        <p14:creationId xmlns:p14="http://schemas.microsoft.com/office/powerpoint/2010/main" val="655905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271E-E1DD-17BB-51A5-A62375588AE1}"/>
              </a:ext>
            </a:extLst>
          </p:cNvPr>
          <p:cNvSpPr>
            <a:spLocks noGrp="1"/>
          </p:cNvSpPr>
          <p:nvPr>
            <p:ph type="title"/>
          </p:nvPr>
        </p:nvSpPr>
        <p:spPr/>
        <p:txBody>
          <a:bodyPr>
            <a:normAutofit/>
          </a:bodyPr>
          <a:lstStyle/>
          <a:p>
            <a:r>
              <a:rPr lang="en-US" sz="3200" b="1" dirty="0">
                <a:effectLst/>
                <a:latin typeface="Times New Roman" panose="02020603050405020304" pitchFamily="18" charset="0"/>
                <a:ea typeface="Calibri" panose="020F0502020204030204" pitchFamily="34" charset="0"/>
              </a:rPr>
              <a:t>Focus Question 4: Which health sectors give patients the most accurate price transparency? </a:t>
            </a:r>
            <a:endParaRPr lang="en-US" sz="6000" dirty="0"/>
          </a:p>
        </p:txBody>
      </p:sp>
      <p:sp>
        <p:nvSpPr>
          <p:cNvPr id="3" name="Content Placeholder 2">
            <a:extLst>
              <a:ext uri="{FF2B5EF4-FFF2-40B4-BE49-F238E27FC236}">
                <a16:creationId xmlns:a16="http://schemas.microsoft.com/office/drawing/2014/main" id="{7D07E2AA-B805-D9D8-0C8F-C9877DCA268B}"/>
              </a:ext>
            </a:extLst>
          </p:cNvPr>
          <p:cNvSpPr>
            <a:spLocks noGrp="1"/>
          </p:cNvSpPr>
          <p:nvPr>
            <p:ph idx="1"/>
          </p:nvPr>
        </p:nvSpPr>
        <p:spPr/>
        <p:txBody>
          <a:bodyPr>
            <a:normAutofit/>
          </a:bodyPr>
          <a:lstStyle/>
          <a:p>
            <a:r>
              <a:rPr lang="en-US" sz="3600" dirty="0">
                <a:solidFill>
                  <a:srgbClr val="0D0D0D"/>
                </a:solidFill>
                <a:effectLst/>
                <a:latin typeface="Times New Roman" panose="02020603050405020304" pitchFamily="18" charset="0"/>
                <a:ea typeface="Calibri" panose="020F0502020204030204" pitchFamily="34" charset="0"/>
              </a:rPr>
              <a:t>Developing a software application </a:t>
            </a:r>
            <a:r>
              <a:rPr lang="en-US" sz="3600">
                <a:solidFill>
                  <a:srgbClr val="0D0D0D"/>
                </a:solidFill>
                <a:effectLst/>
                <a:latin typeface="Times New Roman" panose="02020603050405020304" pitchFamily="18" charset="0"/>
                <a:ea typeface="Calibri" panose="020F0502020204030204" pitchFamily="34" charset="0"/>
              </a:rPr>
              <a:t>to easily </a:t>
            </a:r>
            <a:r>
              <a:rPr lang="en-US" sz="3600" dirty="0">
                <a:solidFill>
                  <a:srgbClr val="0D0D0D"/>
                </a:solidFill>
                <a:effectLst/>
                <a:latin typeface="Times New Roman" panose="02020603050405020304" pitchFamily="18" charset="0"/>
                <a:ea typeface="Calibri" panose="020F0502020204030204" pitchFamily="34" charset="0"/>
              </a:rPr>
              <a:t>gather data and convenient analyzation of price transparency including features such as input data, upload images, and input notes. </a:t>
            </a:r>
            <a:endParaRPr lang="en-US" sz="4000" dirty="0"/>
          </a:p>
        </p:txBody>
      </p:sp>
    </p:spTree>
    <p:extLst>
      <p:ext uri="{BB962C8B-B14F-4D97-AF65-F5344CB8AC3E}">
        <p14:creationId xmlns:p14="http://schemas.microsoft.com/office/powerpoint/2010/main" val="2206299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E4812-2222-19FE-F68C-B08A3A4B5A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3EF822-0C30-BD4D-F137-682C4195299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9232F92-92F0-5137-D185-945323166F66}"/>
              </a:ext>
            </a:extLst>
          </p:cNvPr>
          <p:cNvPicPr>
            <a:picLocks noChangeAspect="1"/>
          </p:cNvPicPr>
          <p:nvPr/>
        </p:nvPicPr>
        <p:blipFill>
          <a:blip r:embed="rId2"/>
          <a:stretch>
            <a:fillRect/>
          </a:stretch>
        </p:blipFill>
        <p:spPr>
          <a:xfrm>
            <a:off x="640078" y="776287"/>
            <a:ext cx="11175323" cy="5587936"/>
          </a:xfrm>
          <a:prstGeom prst="rect">
            <a:avLst/>
          </a:prstGeom>
        </p:spPr>
      </p:pic>
    </p:spTree>
    <p:extLst>
      <p:ext uri="{BB962C8B-B14F-4D97-AF65-F5344CB8AC3E}">
        <p14:creationId xmlns:p14="http://schemas.microsoft.com/office/powerpoint/2010/main" val="2661410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DB694-EA56-B9CB-5D44-BE492D0AC1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CF961E-A027-A28D-99E1-4E0BEE93ADB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4FC5C53-F028-16E5-7AA9-B17005173FD9}"/>
              </a:ext>
            </a:extLst>
          </p:cNvPr>
          <p:cNvPicPr>
            <a:picLocks noChangeAspect="1"/>
          </p:cNvPicPr>
          <p:nvPr/>
        </p:nvPicPr>
        <p:blipFill>
          <a:blip r:embed="rId2"/>
          <a:stretch>
            <a:fillRect/>
          </a:stretch>
        </p:blipFill>
        <p:spPr>
          <a:xfrm>
            <a:off x="523875" y="1044258"/>
            <a:ext cx="11220450" cy="5378863"/>
          </a:xfrm>
          <a:prstGeom prst="rect">
            <a:avLst/>
          </a:prstGeom>
        </p:spPr>
      </p:pic>
    </p:spTree>
    <p:extLst>
      <p:ext uri="{BB962C8B-B14F-4D97-AF65-F5344CB8AC3E}">
        <p14:creationId xmlns:p14="http://schemas.microsoft.com/office/powerpoint/2010/main" val="2350308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32AC-002F-15B4-2887-CBF8DC957D7B}"/>
              </a:ext>
            </a:extLst>
          </p:cNvPr>
          <p:cNvSpPr>
            <a:spLocks noGrp="1"/>
          </p:cNvSpPr>
          <p:nvPr>
            <p:ph type="title"/>
          </p:nvPr>
        </p:nvSpPr>
        <p:spPr/>
        <p:txBody>
          <a:bodyPr>
            <a:normAutofit fontScale="90000"/>
          </a:bodyPr>
          <a:lstStyle/>
          <a:p>
            <a:r>
              <a:rPr lang="en-US" sz="6700" b="1" kern="100" dirty="0">
                <a:effectLst/>
                <a:latin typeface="Times New Roman" panose="02020603050405020304" pitchFamily="18" charset="0"/>
                <a:ea typeface="Calibri" panose="020F0502020204030204" pitchFamily="34" charset="0"/>
                <a:cs typeface="Times New Roman" panose="02020603050405020304" pitchFamily="18" charset="0"/>
              </a:rPr>
              <a:t>References</a:t>
            </a:r>
            <a:br>
              <a:rPr lang="en-US"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4400" dirty="0"/>
          </a:p>
        </p:txBody>
      </p:sp>
      <p:sp>
        <p:nvSpPr>
          <p:cNvPr id="3" name="Content Placeholder 2">
            <a:extLst>
              <a:ext uri="{FF2B5EF4-FFF2-40B4-BE49-F238E27FC236}">
                <a16:creationId xmlns:a16="http://schemas.microsoft.com/office/drawing/2014/main" id="{20A52CD2-E9DA-4AD4-5A69-A302403089C1}"/>
              </a:ext>
            </a:extLst>
          </p:cNvPr>
          <p:cNvSpPr>
            <a:spLocks noGrp="1"/>
          </p:cNvSpPr>
          <p:nvPr>
            <p:ph idx="1"/>
          </p:nvPr>
        </p:nvSpPr>
        <p:spPr/>
        <p:txBody>
          <a:bodyPr>
            <a:normAutofit fontScale="92500" lnSpcReduction="10000"/>
          </a:bodyPr>
          <a:lstStyle/>
          <a:p>
            <a:pPr marL="457200" marR="0" indent="-457200">
              <a:lnSpc>
                <a:spcPct val="200000"/>
              </a:lnSpc>
              <a:spcBef>
                <a:spcPts val="0"/>
              </a:spcBef>
              <a:spcAft>
                <a:spcPts val="800"/>
              </a:spcAft>
            </a:pPr>
            <a:r>
              <a:rPr lang="en-US" sz="1600" kern="100" dirty="0">
                <a:effectLst/>
                <a:latin typeface="Tahoma" panose="020B0604030504040204" pitchFamily="34" charset="0"/>
                <a:ea typeface="Tahoma" panose="020B0604030504040204" pitchFamily="34" charset="0"/>
                <a:cs typeface="Tahoma" panose="020B0604030504040204" pitchFamily="34" charset="0"/>
              </a:rPr>
              <a:t>Amalia, R., Susanti, A. (2020). Transforming healthcare: user-friendly digital health technologies in the era of Society 5.0, Journal of the Neurological Sciences, (Vol. 463).</a:t>
            </a:r>
          </a:p>
          <a:p>
            <a:pPr marR="0" indent="0">
              <a:lnSpc>
                <a:spcPct val="200000"/>
              </a:lnSpc>
              <a:spcBef>
                <a:spcPts val="0"/>
              </a:spcBef>
              <a:spcAft>
                <a:spcPts val="800"/>
              </a:spcAft>
              <a:buNone/>
            </a:pPr>
            <a:r>
              <a:rPr lang="en-US" sz="1600" u="sng" kern="100" dirty="0">
                <a:solidFill>
                  <a:srgbClr val="0563C1"/>
                </a:solidFill>
                <a:effectLst/>
                <a:latin typeface="Tahoma" panose="020B0604030504040204" pitchFamily="34" charset="0"/>
                <a:ea typeface="Tahoma" panose="020B0604030504040204" pitchFamily="34" charset="0"/>
                <a:cs typeface="Tahoma" panose="020B0604030504040204" pitchFamily="34" charset="0"/>
                <a:hlinkClick r:id="rId2"/>
              </a:rPr>
              <a:t>https://doi.org/10.1016/j.jns.2024.123171</a:t>
            </a:r>
            <a:r>
              <a:rPr lang="en-US" sz="1600" kern="100" dirty="0">
                <a:effectLst/>
                <a:latin typeface="Tahoma" panose="020B0604030504040204" pitchFamily="34" charset="0"/>
                <a:ea typeface="Tahoma" panose="020B0604030504040204" pitchFamily="34" charset="0"/>
                <a:cs typeface="Tahoma" panose="020B0604030504040204" pitchFamily="34" charset="0"/>
              </a:rPr>
              <a:t>. (</a:t>
            </a:r>
            <a:r>
              <a:rPr lang="en-US" sz="1600" u="sng" kern="100" dirty="0">
                <a:solidFill>
                  <a:srgbClr val="0563C1"/>
                </a:solidFill>
                <a:effectLst/>
                <a:latin typeface="Tahoma" panose="020B0604030504040204" pitchFamily="34" charset="0"/>
                <a:ea typeface="Tahoma" panose="020B0604030504040204" pitchFamily="34" charset="0"/>
                <a:cs typeface="Tahoma" panose="020B0604030504040204" pitchFamily="34" charset="0"/>
                <a:hlinkClick r:id="rId3"/>
              </a:rPr>
              <a:t>https://www.sciencedirect.com/science/article/pii/S0022510X2400306X</a:t>
            </a:r>
            <a:r>
              <a:rPr lang="en-US" sz="1600" kern="100" dirty="0">
                <a:effectLst/>
                <a:latin typeface="Tahoma" panose="020B0604030504040204" pitchFamily="34" charset="0"/>
                <a:ea typeface="Tahoma" panose="020B0604030504040204" pitchFamily="34" charset="0"/>
                <a:cs typeface="Tahoma" panose="020B0604030504040204" pitchFamily="34" charset="0"/>
              </a:rPr>
              <a:t>)</a:t>
            </a:r>
          </a:p>
          <a:p>
            <a:pPr marL="457200" marR="0" indent="-457200">
              <a:lnSpc>
                <a:spcPct val="200000"/>
              </a:lnSpc>
              <a:spcBef>
                <a:spcPts val="0"/>
              </a:spcBef>
              <a:spcAft>
                <a:spcPts val="800"/>
              </a:spcAft>
            </a:pPr>
            <a:r>
              <a:rPr lang="en-US" sz="1600" kern="100" dirty="0">
                <a:effectLst/>
                <a:latin typeface="Tahoma" panose="020B0604030504040204" pitchFamily="34" charset="0"/>
                <a:ea typeface="Tahoma" panose="020B0604030504040204" pitchFamily="34" charset="0"/>
                <a:cs typeface="Tahoma" panose="020B0604030504040204" pitchFamily="34" charset="0"/>
              </a:rPr>
              <a:t>Hsiao, W. C. (2020). How to fix </a:t>
            </a:r>
            <a:r>
              <a:rPr lang="en-US" sz="1600" kern="100" dirty="0" err="1">
                <a:effectLst/>
                <a:latin typeface="Tahoma" panose="020B0604030504040204" pitchFamily="34" charset="0"/>
                <a:ea typeface="Tahoma" panose="020B0604030504040204" pitchFamily="34" charset="0"/>
                <a:cs typeface="Tahoma" panose="020B0604030504040204" pitchFamily="34" charset="0"/>
              </a:rPr>
              <a:t>american</a:t>
            </a:r>
            <a:r>
              <a:rPr lang="en-US" sz="1600" kern="100" dirty="0">
                <a:effectLst/>
                <a:latin typeface="Tahoma" panose="020B0604030504040204" pitchFamily="34" charset="0"/>
                <a:ea typeface="Tahoma" panose="020B0604030504040204" pitchFamily="34" charset="0"/>
                <a:cs typeface="Tahoma" panose="020B0604030504040204" pitchFamily="34" charset="0"/>
              </a:rPr>
              <a:t> health care: what other countries can--and can’t--teach the united states. Foreign affairs, 99(1), 96–106. </a:t>
            </a:r>
            <a:r>
              <a:rPr lang="en-US" sz="1600" u="sng" kern="100" dirty="0">
                <a:solidFill>
                  <a:srgbClr val="0563C1"/>
                </a:solidFill>
                <a:effectLst/>
                <a:latin typeface="Tahoma" panose="020B0604030504040204" pitchFamily="34" charset="0"/>
                <a:ea typeface="Tahoma" panose="020B0604030504040204" pitchFamily="34" charset="0"/>
                <a:cs typeface="Tahoma" panose="020B0604030504040204" pitchFamily="34" charset="0"/>
                <a:hlinkClick r:id="rId4"/>
              </a:rPr>
              <a:t>https://research.ebsco.com/c/lua7fp/viewer/pdf/sbnyfbvwf5</a:t>
            </a:r>
            <a:endParaRPr lang="en-US" sz="1600" kern="100" dirty="0">
              <a:effectLst/>
              <a:latin typeface="Tahoma" panose="020B0604030504040204" pitchFamily="34" charset="0"/>
              <a:ea typeface="Tahoma" panose="020B0604030504040204" pitchFamily="34" charset="0"/>
              <a:cs typeface="Tahoma" panose="020B0604030504040204" pitchFamily="34" charset="0"/>
            </a:endParaRPr>
          </a:p>
          <a:p>
            <a:pPr marL="457200" marR="0" indent="-457200">
              <a:lnSpc>
                <a:spcPct val="200000"/>
              </a:lnSpc>
              <a:spcBef>
                <a:spcPts val="0"/>
              </a:spcBef>
              <a:spcAft>
                <a:spcPts val="800"/>
              </a:spcAft>
            </a:pPr>
            <a:r>
              <a:rPr lang="en-US" sz="1600"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Laffer, A. B., Van Horn, L., &amp; Fisher, C. A. (2022). Employers can revolutionize </a:t>
            </a:r>
            <a:r>
              <a:rPr lang="en-US" sz="1600" kern="100" spc="-25"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american</a:t>
            </a:r>
            <a:r>
              <a:rPr lang="en-US" sz="1600"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 healthcare and accelerate economic growth by embracing price transparency. </a:t>
            </a:r>
            <a:r>
              <a:rPr lang="en-US" sz="1600" i="1"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Independent Review</a:t>
            </a:r>
            <a:r>
              <a:rPr lang="en-US" sz="1600"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1600" i="1"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27</a:t>
            </a:r>
            <a:r>
              <a:rPr lang="en-US" sz="1600" kern="100" spc="-25" dirty="0">
                <a:solidFill>
                  <a:srgbClr val="000000"/>
                </a:solidFill>
                <a:effectLst/>
                <a:latin typeface="Tahoma" panose="020B0604030504040204" pitchFamily="34" charset="0"/>
                <a:ea typeface="Tahoma" panose="020B0604030504040204" pitchFamily="34" charset="0"/>
                <a:cs typeface="Tahoma" panose="020B0604030504040204" pitchFamily="34" charset="0"/>
              </a:rPr>
              <a:t>(1), 5–22. </a:t>
            </a:r>
            <a:r>
              <a:rPr lang="en-US" sz="1600" u="sng" kern="100" spc="-25" dirty="0">
                <a:solidFill>
                  <a:srgbClr val="0563C1"/>
                </a:solidFill>
                <a:effectLst/>
                <a:latin typeface="Tahoma" panose="020B0604030504040204" pitchFamily="34" charset="0"/>
                <a:ea typeface="Tahoma" panose="020B0604030504040204" pitchFamily="34" charset="0"/>
                <a:cs typeface="Tahoma" panose="020B0604030504040204" pitchFamily="34" charset="0"/>
                <a:hlinkClick r:id="rId5"/>
              </a:rPr>
              <a:t>https://www.jstor.org/stable/48736361</a:t>
            </a:r>
            <a:endParaRPr lang="en-US" sz="1600" kern="100" dirty="0">
              <a:effectLst/>
              <a:latin typeface="Tahoma" panose="020B0604030504040204" pitchFamily="34" charset="0"/>
              <a:ea typeface="Tahoma" panose="020B0604030504040204" pitchFamily="34" charset="0"/>
              <a:cs typeface="Tahoma" panose="020B0604030504040204" pitchFamily="34" charset="0"/>
            </a:endParaRPr>
          </a:p>
          <a:p>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64220087"/>
      </p:ext>
    </p:extLst>
  </p:cSld>
  <p:clrMapOvr>
    <a:masterClrMapping/>
  </p:clrMapOvr>
</p:sld>
</file>

<file path=ppt/theme/theme1.xml><?xml version="1.0" encoding="utf-8"?>
<a:theme xmlns:a="http://schemas.openxmlformats.org/drawingml/2006/main" name="Dash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498</Words>
  <Application>Microsoft Office PowerPoint</Application>
  <PresentationFormat>Widescreen</PresentationFormat>
  <Paragraphs>20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Grandview Display</vt:lpstr>
      <vt:lpstr>Tahoma</vt:lpstr>
      <vt:lpstr>Times New Roman</vt:lpstr>
      <vt:lpstr>DashVTI</vt:lpstr>
      <vt:lpstr>Research Industry: Healthcare</vt:lpstr>
      <vt:lpstr>About</vt:lpstr>
      <vt:lpstr>Focus Question 1) How to reduce time for contacting doctors between doctors and patient by implementing mobile software to reduce wait time?  </vt:lpstr>
      <vt:lpstr>PowerPoint Presentation</vt:lpstr>
      <vt:lpstr>PowerPoint Presentation</vt:lpstr>
      <vt:lpstr>Focus Question 2: How do we lower the prescription drugs prices by making a deal between insurance and markets for patients to pay lower drug prices? </vt:lpstr>
      <vt:lpstr>PowerPoint Presentation</vt:lpstr>
      <vt:lpstr>PowerPoint Presentation</vt:lpstr>
      <vt:lpstr>Focus Question 3) How to reduce overall health expenditures between health sectors by using software to reduce health costs for the country? </vt:lpstr>
      <vt:lpstr>PowerPoint Presentation</vt:lpstr>
      <vt:lpstr>PowerPoint Presentation</vt:lpstr>
      <vt:lpstr>Focus Question 4: Which health sectors give patients the most accurate price transparency? </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 Patrick</dc:creator>
  <cp:lastModifiedBy>Ha, Patrick</cp:lastModifiedBy>
  <cp:revision>21</cp:revision>
  <dcterms:created xsi:type="dcterms:W3CDTF">2024-11-27T15:09:15Z</dcterms:created>
  <dcterms:modified xsi:type="dcterms:W3CDTF">2025-12-16T01:33:42Z</dcterms:modified>
</cp:coreProperties>
</file>